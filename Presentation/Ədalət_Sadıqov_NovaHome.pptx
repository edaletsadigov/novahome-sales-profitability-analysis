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7.xml" ContentType="application/vnd.openxmlformats-officedocument.presentationml.notesSlide+xml"/>
  <Override PartName="/ppt/charts/chart5.xml" ContentType="application/vnd.openxmlformats-officedocument.drawingml.chart+xml"/>
  <Override PartName="/ppt/notesSlides/notesSlide8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9.xml" ContentType="application/vnd.openxmlformats-officedocument.presentationml.notesSlide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10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2.xml" ContentType="application/vnd.openxmlformats-officedocument.drawingml.chart+xml"/>
  <Override PartName="/ppt/notesSlides/notesSlide13.xml" ContentType="application/vnd.openxmlformats-officedocument.presentationml.notesSlide+xml"/>
  <Override PartName="/ppt/charts/chart13.xml" ContentType="application/vnd.openxmlformats-officedocument.drawingml.chart+xml"/>
  <Override PartName="/ppt/notesSlides/notesSlide14.xml" ContentType="application/vnd.openxmlformats-officedocument.presentationml.notesSlide+xml"/>
  <Override PartName="/ppt/charts/chart14.xml" ContentType="application/vnd.openxmlformats-officedocument.drawingml.char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1B4B"/>
                </a:solidFill>
                <a:latin typeface="Arial"/>
              </a:rPr>
              <a:t>Aylıq Xalis Satış (2024–2025)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Xalis satış (₼)</c:v>
                </c:pt>
              </c:strCache>
            </c:strRef>
          </c:tx>
          <c:spPr>
            <a:ln w="31750" cap="flat">
              <a:solidFill>
                <a:srgbClr val="3B2F6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İyn</c:v>
                </c:pt>
                <c:pt idx="6">
                  <c:v>İyl</c:v>
                </c:pt>
                <c:pt idx="7">
                  <c:v>Avq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  <c:pt idx="12">
                  <c:v>Yan</c:v>
                </c:pt>
                <c:pt idx="13">
                  <c:v>Fev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İyn</c:v>
                </c:pt>
                <c:pt idx="18">
                  <c:v>İyl</c:v>
                </c:pt>
                <c:pt idx="19">
                  <c:v>Avq</c:v>
                </c:pt>
                <c:pt idx="20">
                  <c:v>Sen</c:v>
                </c:pt>
                <c:pt idx="21">
                  <c:v>Okt</c:v>
                </c:pt>
                <c:pt idx="22">
                  <c:v>Noy</c:v>
                </c:pt>
                <c:pt idx="23">
                  <c:v>Dek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114895</c:v>
                </c:pt>
                <c:pt idx="1">
                  <c:v>126590</c:v>
                </c:pt>
                <c:pt idx="2">
                  <c:v>154375</c:v>
                </c:pt>
                <c:pt idx="3">
                  <c:v>113307</c:v>
                </c:pt>
                <c:pt idx="4">
                  <c:v>122576</c:v>
                </c:pt>
                <c:pt idx="5">
                  <c:v>95593</c:v>
                </c:pt>
                <c:pt idx="6">
                  <c:v>107295</c:v>
                </c:pt>
                <c:pt idx="7">
                  <c:v>135555</c:v>
                </c:pt>
                <c:pt idx="8">
                  <c:v>193453</c:v>
                </c:pt>
                <c:pt idx="9">
                  <c:v>108411</c:v>
                </c:pt>
                <c:pt idx="10">
                  <c:v>163408</c:v>
                </c:pt>
                <c:pt idx="11">
                  <c:v>227819</c:v>
                </c:pt>
                <c:pt idx="12">
                  <c:v>125300</c:v>
                </c:pt>
                <c:pt idx="13">
                  <c:v>156652</c:v>
                </c:pt>
                <c:pt idx="14">
                  <c:v>129613</c:v>
                </c:pt>
                <c:pt idx="15">
                  <c:v>178973</c:v>
                </c:pt>
                <c:pt idx="16">
                  <c:v>232931</c:v>
                </c:pt>
                <c:pt idx="17">
                  <c:v>209909</c:v>
                </c:pt>
                <c:pt idx="18">
                  <c:v>223444</c:v>
                </c:pt>
                <c:pt idx="19">
                  <c:v>260347</c:v>
                </c:pt>
                <c:pt idx="20">
                  <c:v>224962</c:v>
                </c:pt>
                <c:pt idx="21">
                  <c:v>214475</c:v>
                </c:pt>
                <c:pt idx="22">
                  <c:v>344204</c:v>
                </c:pt>
                <c:pt idx="23">
                  <c:v>258498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19D-4B32-8758-41DFE87BF42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9F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E1B4B"/>
                </a:solidFill>
                <a:latin typeface="Arial"/>
              </a:rPr>
              <a:t>Aylıq Ümumi Mənfəət (Gross Profit)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Ümumi mənfəət (₼)</c:v>
                </c:pt>
              </c:strCache>
            </c:strRef>
          </c:tx>
          <c:spPr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İyn</c:v>
                </c:pt>
                <c:pt idx="6">
                  <c:v>İyl</c:v>
                </c:pt>
                <c:pt idx="7">
                  <c:v>Avq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  <c:pt idx="12">
                  <c:v>Yan</c:v>
                </c:pt>
                <c:pt idx="13">
                  <c:v>Fev</c:v>
                </c:pt>
                <c:pt idx="14">
                  <c:v>Mar</c:v>
                </c:pt>
                <c:pt idx="15">
                  <c:v>Apr</c:v>
                </c:pt>
                <c:pt idx="16">
                  <c:v>May</c:v>
                </c:pt>
                <c:pt idx="17">
                  <c:v>İyn</c:v>
                </c:pt>
                <c:pt idx="18">
                  <c:v>İyl</c:v>
                </c:pt>
                <c:pt idx="19">
                  <c:v>Avq</c:v>
                </c:pt>
                <c:pt idx="20">
                  <c:v>Sen</c:v>
                </c:pt>
                <c:pt idx="21">
                  <c:v>Okt</c:v>
                </c:pt>
                <c:pt idx="22">
                  <c:v>Noy</c:v>
                </c:pt>
                <c:pt idx="23">
                  <c:v>Dek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32917</c:v>
                </c:pt>
                <c:pt idx="1">
                  <c:v>34827</c:v>
                </c:pt>
                <c:pt idx="2">
                  <c:v>47620</c:v>
                </c:pt>
                <c:pt idx="3">
                  <c:v>29913</c:v>
                </c:pt>
                <c:pt idx="4">
                  <c:v>36947</c:v>
                </c:pt>
                <c:pt idx="5">
                  <c:v>26535</c:v>
                </c:pt>
                <c:pt idx="6">
                  <c:v>33654</c:v>
                </c:pt>
                <c:pt idx="7">
                  <c:v>38640</c:v>
                </c:pt>
                <c:pt idx="8">
                  <c:v>44829</c:v>
                </c:pt>
                <c:pt idx="9">
                  <c:v>32782</c:v>
                </c:pt>
                <c:pt idx="10">
                  <c:v>15959</c:v>
                </c:pt>
                <c:pt idx="11">
                  <c:v>70412</c:v>
                </c:pt>
                <c:pt idx="12">
                  <c:v>35894</c:v>
                </c:pt>
                <c:pt idx="13">
                  <c:v>44392</c:v>
                </c:pt>
                <c:pt idx="14">
                  <c:v>39387</c:v>
                </c:pt>
                <c:pt idx="15">
                  <c:v>52038</c:v>
                </c:pt>
                <c:pt idx="16">
                  <c:v>62437</c:v>
                </c:pt>
                <c:pt idx="17">
                  <c:v>62450</c:v>
                </c:pt>
                <c:pt idx="18">
                  <c:v>62849</c:v>
                </c:pt>
                <c:pt idx="19">
                  <c:v>70988</c:v>
                </c:pt>
                <c:pt idx="20">
                  <c:v>52648</c:v>
                </c:pt>
                <c:pt idx="21">
                  <c:v>54486</c:v>
                </c:pt>
                <c:pt idx="22">
                  <c:v>-16315</c:v>
                </c:pt>
                <c:pt idx="23">
                  <c:v>79747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E86C-463F-BF6C-8135E23930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FED7AA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TOP 5 — Xalis Satışa görə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Xalis satış (₼)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Noutbuk</c:v>
                </c:pt>
                <c:pt idx="1">
                  <c:v>Televizor</c:v>
                </c:pt>
                <c:pt idx="2">
                  <c:v>Soyuducu</c:v>
                </c:pt>
                <c:pt idx="3">
                  <c:v>Dolab</c:v>
                </c:pt>
                <c:pt idx="4">
                  <c:v>Kondisioner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401468</c:v>
                </c:pt>
                <c:pt idx="1">
                  <c:v>359174</c:v>
                </c:pt>
                <c:pt idx="2">
                  <c:v>344712</c:v>
                </c:pt>
                <c:pt idx="3">
                  <c:v>338628</c:v>
                </c:pt>
                <c:pt idx="4">
                  <c:v>318023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06-430E-9E63-07343FFF906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TOP 5 — Gross Profit-ə görə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(₼)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Dolab</c:v>
                </c:pt>
                <c:pt idx="1">
                  <c:v>Divan</c:v>
                </c:pt>
                <c:pt idx="2">
                  <c:v>Soyuducu</c:v>
                </c:pt>
                <c:pt idx="3">
                  <c:v>Yemək masası</c:v>
                </c:pt>
                <c:pt idx="4">
                  <c:v>Paltaryuyan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130432</c:v>
                </c:pt>
                <c:pt idx="1">
                  <c:v>119555</c:v>
                </c:pt>
                <c:pt idx="2">
                  <c:v>74127</c:v>
                </c:pt>
                <c:pt idx="3">
                  <c:v>72571</c:v>
                </c:pt>
                <c:pt idx="4">
                  <c:v>69346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FDF-4745-A1B9-5B524C88E8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Kateqoriya üzrə Satış (₼, sol ox) və Gross Margin (%, sağ ox)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Xalis satış (₼)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Məişət texnikası</c:v>
                </c:pt>
                <c:pt idx="1">
                  <c:v>Elektronika</c:v>
                </c:pt>
                <c:pt idx="2">
                  <c:v>Mebel</c:v>
                </c:pt>
                <c:pt idx="3">
                  <c:v>Mətbəx</c:v>
                </c:pt>
                <c:pt idx="4">
                  <c:v>Aksesuar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1381033</c:v>
                </c:pt>
                <c:pt idx="1">
                  <c:v>1372406</c:v>
                </c:pt>
                <c:pt idx="2">
                  <c:v>1011568</c:v>
                </c:pt>
                <c:pt idx="3">
                  <c:v>371332</c:v>
                </c:pt>
                <c:pt idx="4">
                  <c:v>86246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40C-4D8B-A599-CFC2574B6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Gross Margin %</c:v>
                </c:pt>
              </c:strCache>
            </c:strRef>
          </c:tx>
          <c:spPr>
            <a:ln w="31750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circle"/>
            <c:size val="7"/>
            <c:spPr>
              <a:solidFill>
                <a:srgbClr val="EA580C"/>
              </a:solidFill>
              <a:ln w="9525" cap="flat">
                <a:solidFill>
                  <a:srgbClr val="EA580C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Məişət texnikası</c:v>
                </c:pt>
                <c:pt idx="1">
                  <c:v>Elektronika</c:v>
                </c:pt>
                <c:pt idx="2">
                  <c:v>Mebel</c:v>
                </c:pt>
                <c:pt idx="3">
                  <c:v>Mətbəx</c:v>
                </c:pt>
                <c:pt idx="4">
                  <c:v>Aksesuar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21.6</c:v>
                </c:pt>
                <c:pt idx="1">
                  <c:v>14.1</c:v>
                </c:pt>
                <c:pt idx="2">
                  <c:v>38</c:v>
                </c:pt>
                <c:pt idx="3">
                  <c:v>34</c:v>
                </c:pt>
                <c:pt idx="4">
                  <c:v>50.8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0C-4D8B-A599-CFC2574B6E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5"/>
        <c:axId val="2094734553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9F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valAx>
        <c:axId val="2094734553"/>
        <c:scaling>
          <c:orientation val="minMax"/>
        </c:scaling>
        <c:delete val="0"/>
        <c:axPos val="r"/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5"/>
        <c:crosses val="max"/>
        <c:crossBetween val="between"/>
      </c:valAx>
      <c:catAx>
        <c:axId val="2094734555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crossAx val="2094734553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Kanal üzrə qaytarma faizi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Qaytarma faizi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Online</c:v>
                </c:pt>
                <c:pt idx="1">
                  <c:v>Mağaza</c:v>
                </c:pt>
                <c:pt idx="2">
                  <c:v>B2B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4.9800000000000004</c:v>
                </c:pt>
                <c:pt idx="1">
                  <c:v>3.24</c:v>
                </c:pt>
                <c:pt idx="2">
                  <c:v>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584-4A59-8DC3-1530E3AC8C5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Ən çox qaytarılan 5 məhsul (dəyərə görə, ₼)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Qaytarma dəyəri (₼)</c:v>
                </c:pt>
              </c:strCache>
            </c:strRef>
          </c:tx>
          <c:spPr>
            <a:solidFill>
              <a:srgbClr val="3B2F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Divan</c:v>
                </c:pt>
                <c:pt idx="1">
                  <c:v>Noutbuk</c:v>
                </c:pt>
                <c:pt idx="2">
                  <c:v>Monitor</c:v>
                </c:pt>
                <c:pt idx="3">
                  <c:v>Planşet</c:v>
                </c:pt>
                <c:pt idx="4">
                  <c:v>Telefon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25687</c:v>
                </c:pt>
                <c:pt idx="1">
                  <c:v>23569</c:v>
                </c:pt>
                <c:pt idx="2">
                  <c:v>13643</c:v>
                </c:pt>
                <c:pt idx="3">
                  <c:v>11708</c:v>
                </c:pt>
                <c:pt idx="4">
                  <c:v>10670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13C-4542-8686-14F473EE08A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Xalis satış kampaniya üzrə (₼)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Xalis satış (₼)</c:v>
                </c:pt>
              </c:strCache>
            </c:strRef>
          </c:tx>
          <c:spPr>
            <a:solidFill>
              <a:srgbClr val="A78BF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Kampaniyasız</c:v>
                </c:pt>
                <c:pt idx="1">
                  <c:v>Black Friday</c:v>
                </c:pt>
                <c:pt idx="2">
                  <c:v>Həftəsonu</c:v>
                </c:pt>
                <c:pt idx="3">
                  <c:v>Ofisə qayıdış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2985724</c:v>
                </c:pt>
                <c:pt idx="1">
                  <c:v>507613</c:v>
                </c:pt>
                <c:pt idx="2">
                  <c:v>465247</c:v>
                </c:pt>
                <c:pt idx="3">
                  <c:v>264001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9D6-4992-BAD5-851363E1B8B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1B4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1B4B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FFFFFF"/>
                </a:solidFill>
                <a:latin typeface="Arial"/>
              </a:rPr>
              <a:t>Gross Profit kampaniya üzrə (₼)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(₼)</c:v>
                </c:pt>
              </c:strCache>
            </c:strRef>
          </c:tx>
          <c:spPr>
            <a:solidFill>
              <a:srgbClr val="EA580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Kampaniyasız</c:v>
                </c:pt>
                <c:pt idx="1">
                  <c:v>Black Friday</c:v>
                </c:pt>
                <c:pt idx="2">
                  <c:v>Həftəsonu</c:v>
                </c:pt>
                <c:pt idx="3">
                  <c:v>Ofisə qayıdış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875877</c:v>
                </c:pt>
                <c:pt idx="1">
                  <c:v>-355</c:v>
                </c:pt>
                <c:pt idx="2">
                  <c:v>120459</c:v>
                </c:pt>
                <c:pt idx="3">
                  <c:v>50059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1-41D1-91B4-A4E3622C695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F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solidFill>
          <a:srgbClr val="1E1B4B"/>
        </a:solidFill>
        <a:ln>
          <a:noFill/>
        </a:ln>
        <a:effectLst/>
      </c:spPr>
    </c:plotArea>
    <c:plotVisOnly val="1"/>
    <c:dispBlanksAs val="span"/>
    <c:showDLblsOverMax val="1"/>
  </c:chart>
  <c:spPr>
    <a:solidFill>
      <a:srgbClr val="1E1B4B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Zona üzrə xalis satış (₼)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Xalis satış (₼)</c:v>
                </c:pt>
              </c:strCache>
            </c:strRef>
          </c:tx>
          <c:spPr>
            <a:solidFill>
              <a:srgbClr val="3B2F6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Abşeron</c:v>
                </c:pt>
                <c:pt idx="1">
                  <c:v>Qərb</c:v>
                </c:pt>
                <c:pt idx="2">
                  <c:v>Şimal-qərb</c:v>
                </c:pt>
                <c:pt idx="3">
                  <c:v>Cənub</c:v>
                </c:pt>
                <c:pt idx="4">
                  <c:v>Şimal</c:v>
                </c:pt>
                <c:pt idx="5">
                  <c:v>Aran</c:v>
                </c:pt>
                <c:pt idx="6">
                  <c:v>Naxçıvan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1946389</c:v>
                </c:pt>
                <c:pt idx="1">
                  <c:v>543322</c:v>
                </c:pt>
                <c:pt idx="2">
                  <c:v>421685</c:v>
                </c:pt>
                <c:pt idx="3">
                  <c:v>383373</c:v>
                </c:pt>
                <c:pt idx="4">
                  <c:v>378798</c:v>
                </c:pt>
                <c:pt idx="5">
                  <c:v>355617</c:v>
                </c:pt>
                <c:pt idx="6">
                  <c:v>193400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B59-4C59-A3FE-DE7F855F427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Şəhər üzrə Contribution Margin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Contribution Margin %</c:v>
                </c:pt>
              </c:strCache>
            </c:strRef>
          </c:tx>
          <c:spPr>
            <a:solidFill>
              <a:srgbClr val="166534"/>
            </a:solidFill>
            <a:effectLst/>
          </c:spPr>
          <c:invertIfNegative val="0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1E1B4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Sumqayıt</c:v>
                </c:pt>
                <c:pt idx="1">
                  <c:v>Lənkəran</c:v>
                </c:pt>
                <c:pt idx="2">
                  <c:v>Naxçıvan</c:v>
                </c:pt>
                <c:pt idx="3">
                  <c:v>Quba</c:v>
                </c:pt>
                <c:pt idx="4">
                  <c:v>Bakı</c:v>
                </c:pt>
                <c:pt idx="5">
                  <c:v>Şəki</c:v>
                </c:pt>
                <c:pt idx="6">
                  <c:v>Gəncə</c:v>
                </c:pt>
                <c:pt idx="7">
                  <c:v>Mingəçevir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25.99</c:v>
                </c:pt>
                <c:pt idx="1">
                  <c:v>23.83</c:v>
                </c:pt>
                <c:pt idx="2">
                  <c:v>23.76</c:v>
                </c:pt>
                <c:pt idx="3">
                  <c:v>23.71</c:v>
                </c:pt>
                <c:pt idx="4">
                  <c:v>23</c:v>
                </c:pt>
                <c:pt idx="5">
                  <c:v>21.85</c:v>
                </c:pt>
                <c:pt idx="6">
                  <c:v>21.77</c:v>
                </c:pt>
                <c:pt idx="7">
                  <c:v>21.38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81E-4A1B-83B7-7BBD84F53DD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Faktiki satış</c:v>
                </c:pt>
              </c:strCache>
            </c:strRef>
          </c:tx>
          <c:spPr>
            <a:ln w="28575" cap="flat">
              <a:solidFill>
                <a:srgbClr val="3B2F6E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Yan24</c:v>
                </c:pt>
                <c:pt idx="1">
                  <c:v>Fev24</c:v>
                </c:pt>
                <c:pt idx="2">
                  <c:v>Mar24</c:v>
                </c:pt>
                <c:pt idx="3">
                  <c:v>Apr24</c:v>
                </c:pt>
                <c:pt idx="4">
                  <c:v>May24</c:v>
                </c:pt>
                <c:pt idx="5">
                  <c:v>İyn24</c:v>
                </c:pt>
                <c:pt idx="6">
                  <c:v>İyl24</c:v>
                </c:pt>
                <c:pt idx="7">
                  <c:v>Avq24</c:v>
                </c:pt>
                <c:pt idx="8">
                  <c:v>Sen24</c:v>
                </c:pt>
                <c:pt idx="9">
                  <c:v>Okt24</c:v>
                </c:pt>
                <c:pt idx="10">
                  <c:v>Noy24</c:v>
                </c:pt>
                <c:pt idx="11">
                  <c:v>Dek24</c:v>
                </c:pt>
                <c:pt idx="12">
                  <c:v>Yan25</c:v>
                </c:pt>
                <c:pt idx="13">
                  <c:v>Fev25</c:v>
                </c:pt>
                <c:pt idx="14">
                  <c:v>Mar25</c:v>
                </c:pt>
                <c:pt idx="15">
                  <c:v>Apr25</c:v>
                </c:pt>
                <c:pt idx="16">
                  <c:v>May25</c:v>
                </c:pt>
                <c:pt idx="17">
                  <c:v>İyn25</c:v>
                </c:pt>
                <c:pt idx="18">
                  <c:v>İyl25</c:v>
                </c:pt>
                <c:pt idx="19">
                  <c:v>Avq25</c:v>
                </c:pt>
                <c:pt idx="20">
                  <c:v>Sen25</c:v>
                </c:pt>
                <c:pt idx="21">
                  <c:v>Okt25</c:v>
                </c:pt>
                <c:pt idx="22">
                  <c:v>Noy25</c:v>
                </c:pt>
                <c:pt idx="23">
                  <c:v>Dek25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114895</c:v>
                </c:pt>
                <c:pt idx="1">
                  <c:v>126590</c:v>
                </c:pt>
                <c:pt idx="2">
                  <c:v>154375</c:v>
                </c:pt>
                <c:pt idx="3">
                  <c:v>113307</c:v>
                </c:pt>
                <c:pt idx="4">
                  <c:v>122576</c:v>
                </c:pt>
                <c:pt idx="5">
                  <c:v>95593</c:v>
                </c:pt>
                <c:pt idx="6">
                  <c:v>107295</c:v>
                </c:pt>
                <c:pt idx="7">
                  <c:v>135555</c:v>
                </c:pt>
                <c:pt idx="8">
                  <c:v>193453</c:v>
                </c:pt>
                <c:pt idx="9">
                  <c:v>108411</c:v>
                </c:pt>
                <c:pt idx="10">
                  <c:v>163408</c:v>
                </c:pt>
                <c:pt idx="11">
                  <c:v>227819</c:v>
                </c:pt>
                <c:pt idx="12">
                  <c:v>125300</c:v>
                </c:pt>
                <c:pt idx="13">
                  <c:v>156652</c:v>
                </c:pt>
                <c:pt idx="14">
                  <c:v>129613</c:v>
                </c:pt>
                <c:pt idx="15">
                  <c:v>178973</c:v>
                </c:pt>
                <c:pt idx="16">
                  <c:v>232931</c:v>
                </c:pt>
                <c:pt idx="17">
                  <c:v>209909</c:v>
                </c:pt>
                <c:pt idx="18">
                  <c:v>223444</c:v>
                </c:pt>
                <c:pt idx="19">
                  <c:v>260347</c:v>
                </c:pt>
                <c:pt idx="20">
                  <c:v>224962</c:v>
                </c:pt>
                <c:pt idx="21">
                  <c:v>214475</c:v>
                </c:pt>
                <c:pt idx="22">
                  <c:v>344204</c:v>
                </c:pt>
                <c:pt idx="23">
                  <c:v>258498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1A7-4BA7-A337-EE38F149BD9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Plan (Sales Target)</c:v>
                </c:pt>
              </c:strCache>
            </c:strRef>
          </c:tx>
          <c:spPr>
            <a:ln w="28575" cap="flat">
              <a:solidFill>
                <a:srgbClr val="EA580C"/>
              </a:solidFill>
              <a:prstDash val="solid"/>
              <a:round/>
            </a:ln>
            <a:effectLst/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Yan24</c:v>
                </c:pt>
                <c:pt idx="1">
                  <c:v>Fev24</c:v>
                </c:pt>
                <c:pt idx="2">
                  <c:v>Mar24</c:v>
                </c:pt>
                <c:pt idx="3">
                  <c:v>Apr24</c:v>
                </c:pt>
                <c:pt idx="4">
                  <c:v>May24</c:v>
                </c:pt>
                <c:pt idx="5">
                  <c:v>İyn24</c:v>
                </c:pt>
                <c:pt idx="6">
                  <c:v>İyl24</c:v>
                </c:pt>
                <c:pt idx="7">
                  <c:v>Avq24</c:v>
                </c:pt>
                <c:pt idx="8">
                  <c:v>Sen24</c:v>
                </c:pt>
                <c:pt idx="9">
                  <c:v>Okt24</c:v>
                </c:pt>
                <c:pt idx="10">
                  <c:v>Noy24</c:v>
                </c:pt>
                <c:pt idx="11">
                  <c:v>Dek24</c:v>
                </c:pt>
                <c:pt idx="12">
                  <c:v>Yan25</c:v>
                </c:pt>
                <c:pt idx="13">
                  <c:v>Fev25</c:v>
                </c:pt>
                <c:pt idx="14">
                  <c:v>Mar25</c:v>
                </c:pt>
                <c:pt idx="15">
                  <c:v>Apr25</c:v>
                </c:pt>
                <c:pt idx="16">
                  <c:v>May25</c:v>
                </c:pt>
                <c:pt idx="17">
                  <c:v>İyn25</c:v>
                </c:pt>
                <c:pt idx="18">
                  <c:v>İyl25</c:v>
                </c:pt>
                <c:pt idx="19">
                  <c:v>Avq25</c:v>
                </c:pt>
                <c:pt idx="20">
                  <c:v>Sen25</c:v>
                </c:pt>
                <c:pt idx="21">
                  <c:v>Okt25</c:v>
                </c:pt>
                <c:pt idx="22">
                  <c:v>Noy25</c:v>
                </c:pt>
                <c:pt idx="23">
                  <c:v>Dek25</c:v>
                </c:pt>
              </c:strCache>
            </c:strRef>
          </c:cat>
          <c:val>
            <c:numRef>
              <c:f>Sheet1!$C$2:$C$25</c:f>
              <c:numCache>
                <c:formatCode>General</c:formatCode>
                <c:ptCount val="24"/>
                <c:pt idx="0">
                  <c:v>126000</c:v>
                </c:pt>
                <c:pt idx="1">
                  <c:v>133000</c:v>
                </c:pt>
                <c:pt idx="2">
                  <c:v>170000</c:v>
                </c:pt>
                <c:pt idx="3">
                  <c:v>102000</c:v>
                </c:pt>
                <c:pt idx="4">
                  <c:v>110000</c:v>
                </c:pt>
                <c:pt idx="5">
                  <c:v>115000</c:v>
                </c:pt>
                <c:pt idx="6">
                  <c:v>97000</c:v>
                </c:pt>
                <c:pt idx="7">
                  <c:v>122000</c:v>
                </c:pt>
                <c:pt idx="8">
                  <c:v>213000</c:v>
                </c:pt>
                <c:pt idx="9">
                  <c:v>130000</c:v>
                </c:pt>
                <c:pt idx="10">
                  <c:v>196000</c:v>
                </c:pt>
                <c:pt idx="11">
                  <c:v>205000</c:v>
                </c:pt>
                <c:pt idx="12">
                  <c:v>138000</c:v>
                </c:pt>
                <c:pt idx="13">
                  <c:v>164000</c:v>
                </c:pt>
                <c:pt idx="14">
                  <c:v>143000</c:v>
                </c:pt>
                <c:pt idx="15">
                  <c:v>161000</c:v>
                </c:pt>
                <c:pt idx="16">
                  <c:v>245000</c:v>
                </c:pt>
                <c:pt idx="17">
                  <c:v>220000</c:v>
                </c:pt>
                <c:pt idx="18">
                  <c:v>246000</c:v>
                </c:pt>
                <c:pt idx="19">
                  <c:v>312000</c:v>
                </c:pt>
                <c:pt idx="20">
                  <c:v>247000</c:v>
                </c:pt>
                <c:pt idx="21">
                  <c:v>225000</c:v>
                </c:pt>
                <c:pt idx="22">
                  <c:v>379000</c:v>
                </c:pt>
                <c:pt idx="23">
                  <c:v>271000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1A7-4BA7-A337-EE38F149BD9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5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9F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Ssenari: əlavə endirimin Gross Profit-ə təsiri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Profit (₼)</c:v>
                </c:pt>
              </c:strCache>
            </c:strRef>
          </c:tx>
          <c:spPr>
            <a:solidFill>
              <a:srgbClr val="B91C1C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Cari (0%)</c:v>
                </c:pt>
                <c:pt idx="1">
                  <c:v>+5% endirim</c:v>
                </c:pt>
                <c:pt idx="2">
                  <c:v>+10% endirim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1046039</c:v>
                </c:pt>
                <c:pt idx="1">
                  <c:v>834910</c:v>
                </c:pt>
                <c:pt idx="2">
                  <c:v>623781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832-4FBE-A29A-D254BEF48167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1B4B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E1B4B"/>
                </a:solidFill>
                <a:latin typeface="Arial"/>
              </a:rPr>
              <a:t>2025 — İlin əvvəlindən yığılan xalis satış (YTD)</a:t>
            </a:r>
          </a:p>
        </c:rich>
      </c:tx>
      <c:overlay val="0"/>
    </c:title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YTD Xalis Satış (₼)</c:v>
                </c:pt>
              </c:strCache>
            </c:strRef>
          </c:tx>
          <c:spPr>
            <a:solidFill>
              <a:srgbClr val="3B2F6E"/>
            </a:solidFill>
            <a:effectLst/>
          </c:spPr>
          <c:cat>
            <c:strRef>
              <c:f>Sheet1!$A$2:$A$13</c:f>
              <c:strCache>
                <c:ptCount val="12"/>
                <c:pt idx="0">
                  <c:v>Yan</c:v>
                </c:pt>
                <c:pt idx="1">
                  <c:v>Fev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İyn</c:v>
                </c:pt>
                <c:pt idx="6">
                  <c:v>İyl</c:v>
                </c:pt>
                <c:pt idx="7">
                  <c:v>Avq</c:v>
                </c:pt>
                <c:pt idx="8">
                  <c:v>Sen</c:v>
                </c:pt>
                <c:pt idx="9">
                  <c:v>Okt</c:v>
                </c:pt>
                <c:pt idx="10">
                  <c:v>Noy</c:v>
                </c:pt>
                <c:pt idx="11">
                  <c:v>Dek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125300</c:v>
                </c:pt>
                <c:pt idx="1">
                  <c:v>281951</c:v>
                </c:pt>
                <c:pt idx="2">
                  <c:v>411564</c:v>
                </c:pt>
                <c:pt idx="3">
                  <c:v>590537</c:v>
                </c:pt>
                <c:pt idx="4">
                  <c:v>823469</c:v>
                </c:pt>
                <c:pt idx="5">
                  <c:v>1033377</c:v>
                </c:pt>
                <c:pt idx="6">
                  <c:v>1256822</c:v>
                </c:pt>
                <c:pt idx="7">
                  <c:v>1517169</c:v>
                </c:pt>
                <c:pt idx="8">
                  <c:v>1742130</c:v>
                </c:pt>
                <c:pt idx="9">
                  <c:v>1956606</c:v>
                </c:pt>
                <c:pt idx="10">
                  <c:v>2300810</c:v>
                </c:pt>
                <c:pt idx="11">
                  <c:v>2559308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E2E-4A61-847D-2EF15217D1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area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E1B4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DE9FE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6B9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8525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618220" y="-1051560"/>
            <a:ext cx="4754880" cy="4754880"/>
          </a:xfrm>
          <a:prstGeom prst="ellipse">
            <a:avLst/>
          </a:prstGeom>
          <a:solidFill>
            <a:srgbClr val="3B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0088880" y="4572000"/>
            <a:ext cx="2743200" cy="274320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DATACUBE  ·  POWER BI YEKUN LAYİHƏSİ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4944" y="173736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NovaHome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731520" y="2743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və Mənfəət Təhlili — 2024 vs 2025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731520" y="3474720"/>
            <a:ext cx="2743200" cy="0"/>
          </a:xfrm>
          <a:prstGeom prst="line">
            <a:avLst/>
          </a:prstGeom>
          <a:noFill/>
          <a:ln w="28575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78638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Satışın artımı şirkətin qazancını eyni sürətlə artırırmı?</a:t>
            </a:r>
            <a:endParaRPr lang="en-US" sz="1400" dirty="0"/>
          </a:p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Məhsul, kampaniya, region və müştəri qərarları üçün rəqəmlərlə əsaslandırılmış cavab.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594360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Hazırladı: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Ədalət Sadıqov
</a:t>
            </a:r>
            <a:endParaRPr lang="en-US" sz="1300" dirty="0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Şirkət konteksti və layihənin məqsədi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126480" cy="4480560"/>
          </a:xfrm>
          <a:prstGeom prst="roundRect">
            <a:avLst>
              <a:gd name="adj" fmla="val 1633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NovaHome kimdir?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057400"/>
            <a:ext cx="5577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Elektronika, məişət texnikası, mebel, mətbəx məhsulları və aksesuar satan pərakəndə şirkət (sintetik dataset).
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Kanallar: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Online, Mağaza, B2B
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Müştəri seqmentləri: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Retail, SME, Corporate
</a:t>
            </a:r>
            <a:endParaRPr lang="en-US" sz="12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250" b="1" dirty="0">
                <a:solidFill>
                  <a:srgbClr val="3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Coğrafiya: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şəhər, 7 zona (Azərbaycan)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22960" y="4279392"/>
            <a:ext cx="557784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22960" y="44074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Rəhbərliyin sualı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75488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həcmi ilə yanaşı endirimlərin, qaytarmaların və çatdırılmanın qazanca təsirini görmək istəyir — hansı məhsullara diqqət ayrılmalı, hansı kampaniyalar yenidən qiymətləndirilməli, hansı müştəri qrupları inkişaf etdirilməlidir?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903720" y="146304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178040" y="173736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Əsas sual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178040" y="210312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9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“Satış artırsa, şirkətin qazancı da eyni səviyyədə artırmı?”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7178040" y="3429000"/>
            <a:ext cx="4206240" cy="0"/>
          </a:xfrm>
          <a:prstGeom prst="line">
            <a:avLst/>
          </a:prstGeom>
          <a:noFill/>
          <a:ln w="12700">
            <a:solidFill>
              <a:srgbClr val="3B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178040" y="3611880"/>
            <a:ext cx="4206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suala yalnız satış qrafiki ilə cavab vermək kifayət deyil — analiz qazancı ayrıca izləyir: xalis satış, xalis maya, çatdırılma xərci və çatdırılmadan sonrakı qazanc.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sual — rəhbərliyin qərar dəstəyi üçün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160020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Satış artımı ilə qazanc artımı eyni sürətdədirmi?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48640" y="249631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9808" y="2496312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Ən çox satılan məhsul ən çox qazanc gətirən məhsuldurmu?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749808" y="3392424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Hansı kateqoriyada satış yaxşı, marja zəifdir?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4288536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4288536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Qaytarmalar hansı məhsul/kanalda daha yüksəkdir?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5184648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749808" y="518464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Black Friday satış və qazanc baxımından necədir?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263640" y="1600200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464808" y="1600200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Hansı region daha çox satır, hansında marja yüksəkdir?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496312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464808" y="2496312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Hansı seqmentdə AOV və təkrar alış daha yüksəkdir?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392424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64808" y="3392424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Hansı aylarda plan yerinə yetirilməyib?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4288536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464808" y="4288536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5%/10% əlavə endirim qazanca necə təsir edir?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5184648"/>
            <a:ext cx="5394960" cy="749808"/>
          </a:xfrm>
          <a:prstGeom prst="roundRect">
            <a:avLst>
              <a:gd name="adj" fmla="val 731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464808" y="5184648"/>
            <a:ext cx="50292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Gələcəkdə hansı 2 məhsula, hansı kanala fokuslanmalı?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KPIS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2024–2025 ümumi göstəricilər (yalnız Completed sifarişlər)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76656" y="170992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4.22M ₼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67665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Xalis satış (Net Sales)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0020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02736" y="170992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B2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1.05M ₼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360273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Ümumi mənfəət (Gross Profit) · 24.8%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0" y="160020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528816" y="170992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B2F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981K ₼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652881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Çatdırılmadan sonrakı qazanc · 23.2%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326880" y="160020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454896" y="170992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2,571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454896" y="239572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Tamamlanmış sifariş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0632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76656" y="317296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240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676656" y="38587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Aktiv müştəri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474720" y="30632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02736" y="317296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1,642 ₼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3602736" y="38587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 sifariş dəyəri (AOV)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400800" y="30632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528816" y="317296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7.3%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6528816" y="38587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Çəkili endirim faizi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326880" y="3063240"/>
            <a:ext cx="2697480" cy="1234440"/>
          </a:xfrm>
          <a:prstGeom prst="roundRect">
            <a:avLst>
              <a:gd name="adj" fmla="val 5185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454896" y="3172968"/>
            <a:ext cx="2441448" cy="66751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3.8%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9454896" y="3858768"/>
            <a:ext cx="24414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Qaytarma faizi (vahid üzrə)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11064240" cy="1234440"/>
          </a:xfrm>
          <a:prstGeom prst="roundRect">
            <a:avLst>
              <a:gd name="adj" fmla="val 5185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822960" y="4846320"/>
            <a:ext cx="105156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İlkin oxu: </a:t>
            </a:r>
            <a:r>
              <a:rPr lang="en-US" sz="13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2024→2025 xalis satış +53.9% artıb, amma ümumi mənfəət yalnız +35.0%, çatdırılmadan sonrakı qazanc isə +33.9% artıb. Satış qazancdan sürətli böyüyür — səbəbi növbəti slaydda.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+53.9% böyüyür, qazanc +35.0% — sürət fərqlidir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08760"/>
          <a:ext cx="7315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48640" y="4754880"/>
          <a:ext cx="731520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8138160" y="150876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66176" y="1618488"/>
            <a:ext cx="326440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+53.9%</a:t>
            </a:r>
            <a:endParaRPr lang="en-US" sz="2100" dirty="0"/>
          </a:p>
        </p:txBody>
      </p:sp>
      <p:sp>
        <p:nvSpPr>
          <p:cNvPr id="8" name="Text 4"/>
          <p:cNvSpPr/>
          <p:nvPr/>
        </p:nvSpPr>
        <p:spPr>
          <a:xfrm>
            <a:off x="8266176" y="202996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Xalis satış artımı (2024→2025)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8138160" y="256032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8266176" y="2670048"/>
            <a:ext cx="326440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+35.0%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8266176" y="308152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artımı — 19 xal geridə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3611880"/>
            <a:ext cx="352044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266176" y="3721608"/>
            <a:ext cx="326440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-16.3K ₼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8266176" y="4133088"/>
            <a:ext cx="3264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Noyabr 2025: mənfi qazanc ayı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138160" y="4709160"/>
            <a:ext cx="3520440" cy="1737360"/>
          </a:xfrm>
          <a:prstGeom prst="roundRect">
            <a:avLst>
              <a:gd name="adj" fmla="val 3684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8366760" y="484632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Hər iki ildə Noyabr ayı satışın zirvəsidir, amma qazancın çuxurudur — bunun səbəbi Black Friday kampaniyasıdır (Slayd 9).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Ən çox satılan məhsul ən qazanclı məhsul deyil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Noutbuk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satışda #1-dir, amma marjası cəmi </a:t>
            </a: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13.4%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Dolab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satışda #4-dür, marjası isə </a:t>
            </a:r>
            <a:r>
              <a:rPr lang="en-US" sz="125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38.5%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Elektronika: yüksək satış, ən zəif marja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Elektronika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ümumi satışın 2-ci ən böyük mənbəyidir (1.37M ₼), amma marjası kateqoriyalar arasında ən aşağıdır (14.1% GPM) — Aksesuar 3.6 dəfə daha yüksək marjalıdır.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Qaytarmalar: Online kanalda və Divan/Monitor məhsullarında yüksək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554480"/>
          <a:ext cx="539496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kanalın qaytarma faizi B2B-dən 1.7 dəfə yüksəkdir (ölçülərin görə görmədən alınan qərar riski). Divan həm dəyərcə (25.7K ₼), həm faizlə (7.8%) risklidir.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Friday: satışı artırır, qazancı sıfırlayır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600200"/>
          <a:ext cx="54864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 w="12700">
            <a:solidFill>
              <a:srgbClr val="EA580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 Friday-də çəkili endirim 29.1% (digər kampaniyalardan 2.4–18× yüksək) — 507.6K ₼ satış cəmi </a:t>
            </a:r>
            <a:r>
              <a:rPr lang="en-US" sz="125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-355 ₼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Profit gətirir. Praktik olaraq sıfır qazanc — yenidən qiymətləndirilməli kampaniya budur.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Content="1" isInverted="1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Abşeron satışda lider, Sumqayıt marjada birinci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6263640" y="1554480"/>
          <a:ext cx="548640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Bakı ən çox satan şəhərdir, amma marjada 5-ci yerdədir — Sumqayıt həcmdə 2-ci olsa da, marjada liderdir.</a:t>
            </a:r>
            <a:endParaRPr lang="en-US" sz="1250" dirty="0"/>
          </a:p>
        </p:txBody>
      </p:sp>
      <p:sp>
        <p:nvSpPr>
          <p:cNvPr id="8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Corporate: ən yüksək AOV və ən sabit təkrar alış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6766560" cy="20116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Seqment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AOV (₼)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Aktiv müştəri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Təkrar alış (2025)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1B4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Corporate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1,928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Retail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E1B4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98.5%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6F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600200"/>
            <a:ext cx="4069080" cy="4251960"/>
          </a:xfrm>
          <a:prstGeom prst="roundRect">
            <a:avLst>
              <a:gd name="adj" fmla="val 1573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772400" y="1828800"/>
            <a:ext cx="3611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Nə deməkdir?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0" y="2240280"/>
            <a:ext cx="361188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sifarişdə 4× böyükdür (3,893 ₼ vs 964 ₼ Retail) və müştərilərin 100%-i ilin ərzində təkrar alış edib.
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3B2F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</a:t>
            </a: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böyük müştəri bazasıdır (137 aktiv), amma AOV ən aşağıdır — yüksək həcm, aşağı bilet.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3886200"/>
            <a:ext cx="6766560" cy="1965960"/>
          </a:xfrm>
          <a:prstGeom prst="roundRect">
            <a:avLst>
              <a:gd name="adj" fmla="val 2791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 qeyd: </a:t>
            </a: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təkrar alış faizi hazırkı PBIX-də ölçü kimi qurulmayıb — Fact_Orders üzərindən (seçilmiş dövr = il) hesablanıb. 2024 üçün eyni göstərici 91.3%–96.9% aralığında idi (SME ən aşağı, Corporate ən yüksək) — tendensiya sabitdir, PBIX-ə əlavə edilməlidir.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 aydan 18-i planı yerinə yetirməyib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6692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676656" y="5779008"/>
            <a:ext cx="331012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 / 24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676656" y="6190488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Planı yerinə yetirməyən ay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251960" y="5669280"/>
            <a:ext cx="356616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379976" y="5779008"/>
            <a:ext cx="331012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-335,940 ₼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4379976" y="6190488"/>
            <a:ext cx="33101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Uğursuz aylarda cəmi kəsir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55280" y="5669280"/>
            <a:ext cx="3703320" cy="960120"/>
          </a:xfrm>
          <a:prstGeom prst="roundRect">
            <a:avLst>
              <a:gd name="adj" fmla="val 6667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83296" y="5779008"/>
            <a:ext cx="3447288" cy="393192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Avq 2025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8083296" y="6190488"/>
            <a:ext cx="344728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böyük kəsir: -51.7K ₼ (-16.6%)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000">
        <p14:shred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FINDINGS · SUAL 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Əlavə 10% endirim Gross Profit-i 40% əridir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00200"/>
          <a:ext cx="65836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360920" y="1600200"/>
            <a:ext cx="4251960" cy="4206240"/>
          </a:xfrm>
          <a:prstGeom prst="roundRect">
            <a:avLst>
              <a:gd name="adj" fmla="val 1522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589520" y="18288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Ssenari şərtləri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589520" y="2240280"/>
            <a:ext cx="3749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Miqdar, qaytarılan miqdar, maya və çatdırılma sabit qalır
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Əlavə endirim mövcud xalis satışa tətbiq olunur
</a:t>
            </a:r>
            <a:endParaRPr lang="en-US" sz="12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məlumat dəyişmir — What-If parametridir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566160"/>
            <a:ext cx="3749040" cy="0"/>
          </a:xfrm>
          <a:prstGeom prst="line">
            <a:avLst/>
          </a:prstGeom>
          <a:noFill/>
          <a:ln w="12700">
            <a:solidFill>
              <a:srgbClr val="DDD6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89520" y="37490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EA580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+5%: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-211.1K ₼ (-20.2%)
</a:t>
            </a:r>
            <a:endParaRPr lang="en-US" sz="1500" dirty="0"/>
          </a:p>
          <a:p>
            <a:pPr marL="0" indent="0">
              <a:lnSpc>
                <a:spcPts val="2200"/>
              </a:lnSpc>
              <a:buNone/>
            </a:pPr>
            <a:r>
              <a:rPr lang="en-US" sz="1500" b="1" dirty="0">
                <a:solidFill>
                  <a:srgbClr val="B91C1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+10%: </a:t>
            </a:r>
            <a:r>
              <a:rPr lang="en-US" sz="1500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-422.3K ₼ (-40.4%)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48640" y="5897880"/>
            <a:ext cx="11064240" cy="54864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822960" y="58978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Metodoloji qeyd: </a:t>
            </a:r>
            <a:r>
              <a:rPr lang="en-US" sz="11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What-If parametri hazırkı PBIX-də qurulmayıb. Rəqəmlər Fact_Orders üzərindən eyni qaydalarla (Completed, Contribution) hesablanıb — parametr Plan səhifəsinə əlavə edilməlidir.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 &amp; COMPARISONS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2025 YTD: ilin sonuna doğru sabit yığılma</a:t>
            </a:r>
            <a:endParaRPr lang="en-US" sz="26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11064240" cy="4480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5943600"/>
            <a:ext cx="11064240" cy="502920"/>
          </a:xfrm>
          <a:prstGeom prst="roundRect">
            <a:avLst>
              <a:gd name="adj" fmla="val 9091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5943600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YTD 2.56M ₼-ə çatıb — Noyabrın Black Friday zirvəsi görünsə də, mənfəət təsiri YTD xəttində görünmür, bu da ayrıca marja izlənməsinin vacibliyini göstərir.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  <p:transition spd="slow">
    <p:comb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Analizdən çıxan 5 əsas nəticə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02920" cy="502920"/>
          </a:xfrm>
          <a:prstGeom prst="ellipse">
            <a:avLst/>
          </a:prstGeom>
          <a:solidFill>
            <a:srgbClr val="3B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536192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Satış və qazanc ayrılır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26280" y="1536192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+53.9%, Gross Profit +35.0% böyüyüb — böyümənin keyfiyyəti aşağı düşür.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96312"/>
            <a:ext cx="502920" cy="502920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963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34440" y="2432304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qazanc yeyir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432304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29.1% çəkili endirimlə kampaniya praktik olaraq sıfır (-355 ₼) qazanc verir.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92424"/>
            <a:ext cx="502920" cy="502920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48640" y="33924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34440" y="3328416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Noutbuk həcm, Dolab dəyər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26280" y="3328416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 çox satılan məhsulun marjası (13.4%) ən qazanclı məhsulun marjasından (38.5%) 3× aşağıdır.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288536"/>
            <a:ext cx="502920" cy="502920"/>
          </a:xfrm>
          <a:prstGeom prst="ellipse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548640" y="42885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224528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Elektronika zəif marjalıdır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26280" y="4224528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İkinci ən böyük kateqoriya, amma marjada sonuncular arasındadır (14.1%).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184648"/>
            <a:ext cx="502920" cy="502920"/>
          </a:xfrm>
          <a:prstGeom prst="ellipse">
            <a:avLst/>
          </a:prstGeom>
          <a:solidFill>
            <a:srgbClr val="3B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8640" y="51846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34440" y="51206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icrası zəifdir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26280" y="5120640"/>
            <a:ext cx="7086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aydan 18-i (75%) planı tutmayıb — orta hesabla plan həddindən yuxarı qoyulmuş ola bilər.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:dissolve/>
      </p:transition>
    </mc:Choice>
    <mc:Fallback>
      <p:transition spd="slow">
        <p:dissolv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konkret addım — müşahidə → sübut → hərəkət → göstərici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49808" y="1737360"/>
            <a:ext cx="384048" cy="384048"/>
          </a:xfrm>
          <a:prstGeom prst="ellipse">
            <a:avLst/>
          </a:prstGeom>
          <a:solidFill>
            <a:srgbClr val="B91C1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49808" y="221284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Friday endirim strukturunu yenidən qur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907792"/>
            <a:ext cx="3200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Müşahidə: Black Friday 507.6K ₼ satış gətirir, amma Gross Profit -355 ₼-dir.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Sübut: çəkili endirim 29.1% — digər kampaniyalardan 2.4–18× yüksək; kampaniyasız satışın GPM-i 29.3%.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Addım: maksimum endirimi 15-18%-ə endir, ya da yalnız yüksək-marjalı kateqoriyalarda (Mebel, Mətbəx) tətbiq et.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9808" y="562356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68680" y="5623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İzlənəcək: Black Friday Gross Profit % (hədəf: müsbət, min. 10%)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343400" y="155448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44568" y="1737360"/>
            <a:ext cx="384048" cy="384048"/>
          </a:xfrm>
          <a:prstGeom prst="ellipse">
            <a:avLst/>
          </a:prstGeom>
          <a:solidFill>
            <a:srgbClr val="EA58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44568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44568" y="221284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Elektronika qiymət/maya strukturunu nəzərdən keçir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44568" y="2907792"/>
            <a:ext cx="3200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Müşahidə: Elektronika 2-ci ən böyük satış mənbəyidir (1.37M ₼), marja isə ən aşağıdır (14.1%).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Sübut: Noutbuk (ən çox satılan) GPM 13.4% — Aksesuar kateqoriyasının 1/4-i qədər.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Addım: Noutbuk/Televizor üçün təchizatçı qiymətini yenidən danış, ya da qablaşdırılmış (bundle) satışla orta bileti artır.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544568" y="562356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663440" y="5623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İzlənəcək: Elektronika Gross Margin % (hədəf: +5 xal)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8138160" y="155448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F4F1FC"/>
          </a:solidFill>
          <a:ln w="12700">
            <a:solidFill>
              <a:srgbClr val="F4F1F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339328" y="1737360"/>
            <a:ext cx="384048" cy="384048"/>
          </a:xfrm>
          <a:prstGeom prst="ellipse">
            <a:avLst/>
          </a:prstGeom>
          <a:solidFill>
            <a:srgbClr val="3B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339328" y="1737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339328" y="2212848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350" b="1" dirty="0">
                <a:solidFill>
                  <a:srgbClr val="1E1B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Corporate seqmentini genişləndir, Online qaytarmasını azalt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339328" y="2907792"/>
            <a:ext cx="3200400" cy="2578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Müşahidə: Corporate ən yüksək AOV (3,893 ₼) və 100% təkrar alış göstərir; Online qaytarma faizi B2B-dən 1.7× yüksəkdir.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Sübut: Corporate cəmi 32 aktiv müştəri ilə 1.35M ₼ satış gətirir — genişlənmə potensialı yüksəkdir.
</a:t>
            </a:r>
            <a:endParaRPr lang="en-US" sz="1050" dirty="0"/>
          </a:p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Addım: Corporate üçün hədəflənmiş satış proqramı qur; Online-da ölçü/uyğunluq məlumatını yaxşılaşdır ki, qaytarma azalsın.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39328" y="5623560"/>
            <a:ext cx="3200400" cy="502920"/>
          </a:xfrm>
          <a:prstGeom prst="roundRect">
            <a:avLst>
              <a:gd name="adj" fmla="val 7273"/>
            </a:avLst>
          </a:prstGeom>
          <a:solidFill>
            <a:srgbClr val="1E1B4B"/>
          </a:solidFill>
          <a:ln w="12700">
            <a:solidFill>
              <a:srgbClr val="1E1B4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458200" y="5623560"/>
            <a:ext cx="2971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İzlənəcək: Corporate aktiv müştəri sayı, Online Return Rate %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48640" y="6537960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NovaHome · Satış və Mənfəət Təhlili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521440" y="6537960"/>
            <a:ext cx="320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6B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1B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494523" y="3840480"/>
            <a:ext cx="4572000" cy="4572000"/>
          </a:xfrm>
          <a:prstGeom prst="ellipse">
            <a:avLst/>
          </a:prstGeom>
          <a:solidFill>
            <a:srgbClr val="3B2F6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CONCLUSION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13232" y="100584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Xeyr — satış qazancdan sürətli böyüyür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76809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2024→2025 xalis satış </a:t>
            </a: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+53.9%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artıb, amma Gross Profit yalnız </a:t>
            </a:r>
            <a:r>
              <a:rPr lang="en-US" sz="1500" b="1" dirty="0">
                <a:solidFill>
                  <a:srgbClr val="EA58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+35.0%</a:t>
            </a: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bu fərqin əsas mühərriki dərin endirimli Black Friday kampaniyasıdır (29.1% çəkili endirim, -355 ₼ qazanc), ikinci mühərriki isə aşağı-marjalı Elektronika kateqoriyasının satışda ağırlıq qazanmasıdır.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023360"/>
            <a:ext cx="7680960" cy="0"/>
          </a:xfrm>
          <a:prstGeom prst="line">
            <a:avLst/>
          </a:prstGeom>
          <a:noFill/>
          <a:ln w="12700">
            <a:solidFill>
              <a:srgbClr val="3B2F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31520" y="4251960"/>
            <a:ext cx="76809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addım — kampaniya endirimini məhdudlaşdır, Elektronikanın marjasını yenidən qiymətləndir, Corporate seqmentinə investisiya et — hər biri ölçülə bilən göstərici ilə izlənilir.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31520" y="576072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Təşəkkürlər</a:t>
            </a:r>
            <a:endParaRPr lang="en-US" sz="2000" dirty="0"/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1660</Words>
  <Application>Microsoft Office PowerPoint</Application>
  <PresentationFormat>Widescreen</PresentationFormat>
  <Paragraphs>217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grafik</cp:lastModifiedBy>
  <cp:revision>3</cp:revision>
  <dcterms:created xsi:type="dcterms:W3CDTF">2026-09-19T21:19:24Z</dcterms:created>
  <dcterms:modified xsi:type="dcterms:W3CDTF">2026-09-19T22:24:23Z</dcterms:modified>
</cp:coreProperties>
</file>